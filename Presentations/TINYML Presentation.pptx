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2" r:id="rId5"/>
    <p:sldId id="310" r:id="rId6"/>
    <p:sldId id="321" r:id="rId7"/>
    <p:sldId id="322" r:id="rId8"/>
    <p:sldId id="313" r:id="rId9"/>
    <p:sldId id="320" r:id="rId10"/>
    <p:sldId id="314" r:id="rId11"/>
    <p:sldId id="315" r:id="rId12"/>
    <p:sldId id="316" r:id="rId13"/>
    <p:sldId id="317" r:id="rId14"/>
    <p:sldId id="318" r:id="rId15"/>
    <p:sldId id="325" r:id="rId16"/>
    <p:sldId id="319" r:id="rId17"/>
    <p:sldId id="32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5BAF1-0130-4872-85E8-EFC289D4F39D}" v="2" dt="2026-06-17T18:05:00.500"/>
    <p1510:client id="{374EE899-3862-56C3-E4D2-2D25E224F097}" v="5" dt="2026-06-17T14:14:10.841"/>
    <p1510:client id="{5E7744BC-2B2A-CCE5-0A05-7A17F832C445}" v="2" dt="2026-06-17T18:19:01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Dick" userId="S::kdick6287@conestogac.on.ca::a35435a2-e873-457d-bb4c-ecb81060f688" providerId="AD" clId="Web-{5E7744BC-2B2A-CCE5-0A05-7A17F832C445}"/>
    <pc:docChg chg="modSld">
      <pc:chgData name="Kyle Dick" userId="S::kdick6287@conestogac.on.ca::a35435a2-e873-457d-bb4c-ecb81060f688" providerId="AD" clId="Web-{5E7744BC-2B2A-CCE5-0A05-7A17F832C445}" dt="2026-06-17T18:19:01.802" v="1" actId="1076"/>
      <pc:docMkLst>
        <pc:docMk/>
      </pc:docMkLst>
      <pc:sldChg chg="modSp">
        <pc:chgData name="Kyle Dick" userId="S::kdick6287@conestogac.on.ca::a35435a2-e873-457d-bb4c-ecb81060f688" providerId="AD" clId="Web-{5E7744BC-2B2A-CCE5-0A05-7A17F832C445}" dt="2026-06-17T18:19:01.802" v="1" actId="1076"/>
        <pc:sldMkLst>
          <pc:docMk/>
          <pc:sldMk cId="105692083" sldId="316"/>
        </pc:sldMkLst>
        <pc:picChg chg="mod">
          <ac:chgData name="Kyle Dick" userId="S::kdick6287@conestogac.on.ca::a35435a2-e873-457d-bb4c-ecb81060f688" providerId="AD" clId="Web-{5E7744BC-2B2A-CCE5-0A05-7A17F832C445}" dt="2026-06-17T18:19:01.802" v="1" actId="1076"/>
          <ac:picMkLst>
            <pc:docMk/>
            <pc:sldMk cId="105692083" sldId="316"/>
            <ac:picMk id="4" creationId="{44CA5319-A425-6950-E1C2-C3817E95A03E}"/>
          </ac:picMkLst>
        </pc:picChg>
      </pc:sldChg>
    </pc:docChg>
  </pc:docChgLst>
  <pc:docChgLst>
    <pc:chgData name="Kyle Dick" userId="S::kdick6287@conestogac.on.ca::a35435a2-e873-457d-bb4c-ecb81060f688" providerId="AD" clId="Web-{374EE899-3862-56C3-E4D2-2D25E224F097}"/>
    <pc:docChg chg="addSld delSld modSld">
      <pc:chgData name="Kyle Dick" userId="S::kdick6287@conestogac.on.ca::a35435a2-e873-457d-bb4c-ecb81060f688" providerId="AD" clId="Web-{374EE899-3862-56C3-E4D2-2D25E224F097}" dt="2026-06-17T14:14:06.326" v="4" actId="20577"/>
      <pc:docMkLst>
        <pc:docMk/>
      </pc:docMkLst>
      <pc:sldChg chg="modSp">
        <pc:chgData name="Kyle Dick" userId="S::kdick6287@conestogac.on.ca::a35435a2-e873-457d-bb4c-ecb81060f688" providerId="AD" clId="Web-{374EE899-3862-56C3-E4D2-2D25E224F097}" dt="2026-06-17T14:14:06.326" v="4" actId="20577"/>
        <pc:sldMkLst>
          <pc:docMk/>
          <pc:sldMk cId="105692083" sldId="316"/>
        </pc:sldMkLst>
        <pc:spChg chg="mod">
          <ac:chgData name="Kyle Dick" userId="S::kdick6287@conestogac.on.ca::a35435a2-e873-457d-bb4c-ecb81060f688" providerId="AD" clId="Web-{374EE899-3862-56C3-E4D2-2D25E224F097}" dt="2026-06-17T14:14:06.326" v="4" actId="20577"/>
          <ac:spMkLst>
            <pc:docMk/>
            <pc:sldMk cId="105692083" sldId="316"/>
            <ac:spMk id="3" creationId="{8740DA4F-853D-DFF4-CF48-1365202EE44F}"/>
          </ac:spMkLst>
        </pc:spChg>
      </pc:sldChg>
      <pc:sldChg chg="new del">
        <pc:chgData name="Kyle Dick" userId="S::kdick6287@conestogac.on.ca::a35435a2-e873-457d-bb4c-ecb81060f688" providerId="AD" clId="Web-{374EE899-3862-56C3-E4D2-2D25E224F097}" dt="2026-06-17T14:13:18.951" v="2"/>
        <pc:sldMkLst>
          <pc:docMk/>
          <pc:sldMk cId="1650958297" sldId="324"/>
        </pc:sldMkLst>
      </pc:sldChg>
      <pc:sldChg chg="add">
        <pc:chgData name="Kyle Dick" userId="S::kdick6287@conestogac.on.ca::a35435a2-e873-457d-bb4c-ecb81060f688" providerId="AD" clId="Web-{374EE899-3862-56C3-E4D2-2D25E224F097}" dt="2026-06-17T14:13:16.123" v="1"/>
        <pc:sldMkLst>
          <pc:docMk/>
          <pc:sldMk cId="2494732660" sldId="32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6/17/2026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.dev/edge/litert/microcontrollers/overview" TargetMode="External"/><Relationship Id="rId2" Type="http://schemas.openxmlformats.org/officeDocument/2006/relationships/hyperlink" Target="https://www.edgeimpulse.com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spressif.com/en/products/socs/esp32-s3" TargetMode="External"/><Relationship Id="rId4" Type="http://schemas.openxmlformats.org/officeDocument/2006/relationships/hyperlink" Target="https://tinyml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4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 fontScale="90000"/>
          </a:bodyPr>
          <a:lstStyle/>
          <a:p>
            <a:r>
              <a:rPr lang="en-US" sz="4400">
                <a:solidFill>
                  <a:schemeClr val="tx1"/>
                </a:solidFill>
              </a:rPr>
              <a:t>TINYML For acoustic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David &amp; Kyle</a:t>
            </a:r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10DF-D86A-CF8A-49E1-680F8C98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What is </a:t>
            </a:r>
            <a:r>
              <a:rPr lang="en-CA" err="1"/>
              <a:t>TinyML</a:t>
            </a:r>
            <a:r>
              <a:rPr lang="en-CA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84AC-4B4B-A98E-DEA9-8CA0BA8A8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466347" cy="3849624"/>
          </a:xfrm>
        </p:spPr>
        <p:txBody>
          <a:bodyPr/>
          <a:lstStyle/>
          <a:p>
            <a:r>
              <a:rPr lang="en-CA" sz="1800"/>
              <a:t>Practice of deploying machine learning models on low-power embedded devices </a:t>
            </a:r>
          </a:p>
          <a:p>
            <a:r>
              <a:rPr lang="en-CA" sz="1800"/>
              <a:t>Instead of sending data to the cloud:</a:t>
            </a:r>
          </a:p>
          <a:p>
            <a:pPr lvl="1"/>
            <a:r>
              <a:rPr lang="en-CA" sz="1800"/>
              <a:t>Data is collected locally </a:t>
            </a:r>
          </a:p>
          <a:p>
            <a:pPr lvl="1"/>
            <a:r>
              <a:rPr lang="en-CA" sz="1800"/>
              <a:t>AI runs directly on the device</a:t>
            </a:r>
          </a:p>
          <a:p>
            <a:pPr lvl="1"/>
            <a:r>
              <a:rPr lang="en-CA" sz="1800"/>
              <a:t>Decisions are made in real time</a:t>
            </a:r>
          </a:p>
          <a:p>
            <a:r>
              <a:rPr lang="en-CA" sz="2000"/>
              <a:t>Intelligence without requiring internet connectivity</a:t>
            </a:r>
          </a:p>
          <a:p>
            <a:pPr lvl="1"/>
            <a:endParaRPr lang="en-CA" sz="1800"/>
          </a:p>
          <a:p>
            <a:pPr lvl="1"/>
            <a:endParaRPr lang="en-CA" sz="1800"/>
          </a:p>
          <a:p>
            <a:pPr lvl="1"/>
            <a:endParaRPr lang="en-CA"/>
          </a:p>
          <a:p>
            <a:pPr lvl="1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A20545-450C-22B4-D838-91FB6DA1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08" y="2568742"/>
            <a:ext cx="3879329" cy="18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3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8AED-3FC3-BDEB-1DE2-001D0CD8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Real World Applications and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222C-D969-2318-847D-1F1A3437B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42173"/>
            <a:ext cx="7818521" cy="3849624"/>
          </a:xfrm>
        </p:spPr>
        <p:txBody>
          <a:bodyPr>
            <a:noAutofit/>
          </a:bodyPr>
          <a:lstStyle/>
          <a:p>
            <a:r>
              <a:rPr lang="en-CA"/>
              <a:t>Applications:</a:t>
            </a:r>
          </a:p>
          <a:p>
            <a:pPr lvl="1"/>
            <a:r>
              <a:rPr lang="en-CA" sz="1400"/>
              <a:t>Smart watches</a:t>
            </a:r>
          </a:p>
          <a:p>
            <a:pPr lvl="1"/>
            <a:r>
              <a:rPr lang="en-CA" sz="1400"/>
              <a:t>Smart speakers</a:t>
            </a:r>
          </a:p>
          <a:p>
            <a:pPr lvl="1"/>
            <a:r>
              <a:rPr lang="en-CA" sz="1400"/>
              <a:t>Autonomous drones</a:t>
            </a:r>
          </a:p>
          <a:p>
            <a:pPr lvl="1"/>
            <a:r>
              <a:rPr lang="en-CA" sz="1400"/>
              <a:t>Manufacturing </a:t>
            </a:r>
          </a:p>
          <a:p>
            <a:pPr lvl="1"/>
            <a:r>
              <a:rPr lang="en-CA" sz="1400"/>
              <a:t>Environmental monitoring </a:t>
            </a:r>
          </a:p>
          <a:p>
            <a:pPr lvl="1"/>
            <a:r>
              <a:rPr lang="en-CA" sz="1400"/>
              <a:t>Healthcare devices</a:t>
            </a:r>
          </a:p>
          <a:p>
            <a:pPr lvl="1"/>
            <a:endParaRPr lang="en-CA" sz="1400"/>
          </a:p>
          <a:p>
            <a:r>
              <a:rPr lang="en-CA"/>
              <a:t>Market growth and future trends:</a:t>
            </a:r>
          </a:p>
          <a:p>
            <a:pPr lvl="1"/>
            <a:r>
              <a:rPr lang="en-CA" sz="1400"/>
              <a:t>Industry 4.0</a:t>
            </a:r>
          </a:p>
          <a:p>
            <a:pPr lvl="1"/>
            <a:r>
              <a:rPr lang="en-CA" sz="1400"/>
              <a:t>Edge AI</a:t>
            </a:r>
          </a:p>
          <a:p>
            <a:pPr lvl="1"/>
            <a:r>
              <a:rPr lang="en-CA" sz="1400"/>
              <a:t>Smart sensors </a:t>
            </a:r>
          </a:p>
          <a:p>
            <a:pPr lvl="1"/>
            <a:r>
              <a:rPr lang="en-CA" sz="1400"/>
              <a:t>IoT expansion</a:t>
            </a:r>
          </a:p>
          <a:p>
            <a:pPr lvl="1"/>
            <a:endParaRPr lang="en-CA" sz="1400"/>
          </a:p>
          <a:p>
            <a:r>
              <a:rPr lang="en-CA"/>
              <a:t>Billions of devices will eventually contain embedded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0657D-B2F0-27FD-3728-316E54D01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060" y="1804737"/>
            <a:ext cx="2738677" cy="2219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698642-7EEF-020F-3BB4-93B2D66E5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053" y="3272589"/>
            <a:ext cx="392906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0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9AC2-14B2-51E3-B33A-C7DA65CC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Why </a:t>
            </a:r>
            <a:r>
              <a:rPr lang="en-CA" err="1"/>
              <a:t>TinyML</a:t>
            </a:r>
            <a:r>
              <a:rPr lang="en-CA"/>
              <a:t> is Important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33B2E-C439-C109-029B-3523C6E7A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Traditional AI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DE021-5DAC-E1AE-579F-E00B265CD7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2000"/>
              <a:t>Sensor -&gt; Cloud -&gt; AI processing -&gt; Result </a:t>
            </a:r>
          </a:p>
          <a:p>
            <a:r>
              <a:rPr lang="en-CA" sz="2000"/>
              <a:t>Problems:</a:t>
            </a:r>
          </a:p>
          <a:p>
            <a:pPr lvl="1"/>
            <a:r>
              <a:rPr lang="en-CA" sz="2000"/>
              <a:t>Internet required</a:t>
            </a:r>
          </a:p>
          <a:p>
            <a:pPr lvl="1"/>
            <a:r>
              <a:rPr lang="en-CA" sz="2000"/>
              <a:t>Higher latency </a:t>
            </a:r>
          </a:p>
          <a:p>
            <a:pPr lvl="1"/>
            <a:r>
              <a:rPr lang="en-CA" sz="2000"/>
              <a:t>Privacy concerns </a:t>
            </a:r>
          </a:p>
          <a:p>
            <a:pPr lvl="1"/>
            <a:r>
              <a:rPr lang="en-CA" sz="2000"/>
              <a:t>Higher power consumption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E6E9D-1C9A-3472-C088-5A51AE563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err="1"/>
              <a:t>TinyML</a:t>
            </a:r>
            <a:endParaRPr lang="en-C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A2164-C737-F192-42DE-63CCCE2E9B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CA" sz="2000"/>
              <a:t>Sensor -&gt; Embedded Device -&gt; Result</a:t>
            </a:r>
          </a:p>
          <a:p>
            <a:r>
              <a:rPr lang="en-CA" sz="2000"/>
              <a:t>Benefits:</a:t>
            </a:r>
          </a:p>
          <a:p>
            <a:pPr lvl="1"/>
            <a:r>
              <a:rPr lang="en-CA" sz="2000"/>
              <a:t>Real-time decisions </a:t>
            </a:r>
          </a:p>
          <a:p>
            <a:pPr lvl="1"/>
            <a:r>
              <a:rPr lang="en-CA" sz="2000"/>
              <a:t>Low power consumption</a:t>
            </a:r>
          </a:p>
          <a:p>
            <a:pPr lvl="1"/>
            <a:r>
              <a:rPr lang="en-CA" sz="2000"/>
              <a:t>Improved privacy </a:t>
            </a:r>
          </a:p>
          <a:p>
            <a:pPr lvl="1"/>
            <a:r>
              <a:rPr lang="en-CA" sz="2000"/>
              <a:t>Reduced communication requirements </a:t>
            </a:r>
          </a:p>
        </p:txBody>
      </p:sp>
    </p:spTree>
    <p:extLst>
      <p:ext uri="{BB962C8B-B14F-4D97-AF65-F5344CB8AC3E}">
        <p14:creationId xmlns:p14="http://schemas.microsoft.com/office/powerpoint/2010/main" val="356794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D4782-6B96-A117-D84E-9BD1B93E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err="1"/>
              <a:t>TinyML</a:t>
            </a:r>
            <a:r>
              <a:rPr lang="en-CA"/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8EC9-0037-B848-AC5B-BF37634B0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849624"/>
          </a:xfrm>
        </p:spPr>
        <p:txBody>
          <a:bodyPr/>
          <a:lstStyle/>
          <a:p>
            <a:r>
              <a:rPr lang="en-CA" sz="2800"/>
              <a:t>General Workflow:</a:t>
            </a:r>
          </a:p>
          <a:p>
            <a:pPr lvl="1"/>
            <a:r>
              <a:rPr lang="en-CA" sz="2800"/>
              <a:t>Collect sensor data </a:t>
            </a:r>
          </a:p>
          <a:p>
            <a:pPr lvl="1"/>
            <a:r>
              <a:rPr lang="en-CA" sz="2800"/>
              <a:t>Train model on computer </a:t>
            </a:r>
          </a:p>
          <a:p>
            <a:pPr lvl="1"/>
            <a:r>
              <a:rPr lang="en-CA" sz="2800"/>
              <a:t>Optimize model </a:t>
            </a:r>
          </a:p>
          <a:p>
            <a:pPr lvl="1"/>
            <a:r>
              <a:rPr lang="en-CA" sz="2800"/>
              <a:t>Deploy to microcontroller </a:t>
            </a:r>
          </a:p>
          <a:p>
            <a:pPr lvl="1"/>
            <a:r>
              <a:rPr lang="en-CA" sz="2800"/>
              <a:t>Perform inference locally</a:t>
            </a:r>
          </a:p>
          <a:p>
            <a:endParaRPr lang="en-CA"/>
          </a:p>
        </p:txBody>
      </p:sp>
      <p:pic>
        <p:nvPicPr>
          <p:cNvPr id="4" name="Picture 3" descr="Developing with Silicon Labs Machine Learning (AI/ML) | Developing with Machine Learning | Machine Learning | latest | Silicon Labs">
            <a:extLst>
              <a:ext uri="{FF2B5EF4-FFF2-40B4-BE49-F238E27FC236}">
                <a16:creationId xmlns:a16="http://schemas.microsoft.com/office/drawing/2014/main" id="{84BE9134-7D05-D46F-FFEA-EF8F34E2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745" y="857250"/>
            <a:ext cx="3737421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83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66B7-E0EF-F946-2A23-A6AE7705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Challenges of </a:t>
            </a:r>
            <a:r>
              <a:rPr lang="en-CA" err="1"/>
              <a:t>TinyML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C200-F860-DC72-8812-5B7E14EA3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098005" cy="3849624"/>
          </a:xfrm>
        </p:spPr>
        <p:txBody>
          <a:bodyPr>
            <a:noAutofit/>
          </a:bodyPr>
          <a:lstStyle/>
          <a:p>
            <a:r>
              <a:rPr lang="en-CA" sz="1800"/>
              <a:t>Microcontrollers have:</a:t>
            </a:r>
          </a:p>
          <a:p>
            <a:pPr lvl="1"/>
            <a:r>
              <a:rPr lang="en-CA" sz="1800"/>
              <a:t>Limited RAM </a:t>
            </a:r>
          </a:p>
          <a:p>
            <a:pPr lvl="1"/>
            <a:r>
              <a:rPr lang="en-CA" sz="1800"/>
              <a:t>Limited Flash </a:t>
            </a:r>
          </a:p>
          <a:p>
            <a:pPr lvl="1"/>
            <a:r>
              <a:rPr lang="en-CA" sz="1800"/>
              <a:t>Limited CPU power </a:t>
            </a:r>
          </a:p>
          <a:p>
            <a:pPr lvl="1"/>
            <a:r>
              <a:rPr lang="en-CA" sz="1800"/>
              <a:t>Battery constraints</a:t>
            </a:r>
          </a:p>
          <a:p>
            <a:r>
              <a:rPr lang="en-CA" sz="1800"/>
              <a:t>For example, a PC could have 32GB ram while a microcontroller has around 512KB </a:t>
            </a:r>
          </a:p>
          <a:p>
            <a:r>
              <a:rPr lang="en-CA" sz="1800"/>
              <a:t>Limited processing power:</a:t>
            </a:r>
          </a:p>
          <a:p>
            <a:pPr lvl="1"/>
            <a:r>
              <a:rPr lang="en-CA" sz="1800"/>
              <a:t>Don’t have powerful CPUs or GPUs </a:t>
            </a:r>
          </a:p>
          <a:p>
            <a:pPr lvl="1"/>
            <a:r>
              <a:rPr lang="en-CA" sz="1800"/>
              <a:t>Complex AI models may take too long to run</a:t>
            </a:r>
          </a:p>
          <a:p>
            <a:pPr lvl="1"/>
            <a:r>
              <a:rPr lang="en-CA" sz="1800"/>
              <a:t>Real-time applications require fast inference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553E0-BE68-E848-B6A3-3989F9B3C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863" y="1582153"/>
            <a:ext cx="3743157" cy="2105526"/>
          </a:xfrm>
          <a:prstGeom prst="rect">
            <a:avLst/>
          </a:prstGeom>
        </p:spPr>
      </p:pic>
      <p:pic>
        <p:nvPicPr>
          <p:cNvPr id="6" name="Picture 5" descr="Ultra-Low-Power Processors">
            <a:extLst>
              <a:ext uri="{FF2B5EF4-FFF2-40B4-BE49-F238E27FC236}">
                <a16:creationId xmlns:a16="http://schemas.microsoft.com/office/drawing/2014/main" id="{82E3BA2C-E240-5659-94C0-EBFCBC3CE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720" y="3883953"/>
            <a:ext cx="3497180" cy="233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3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3A6D-4109-0D59-7AFE-33B09398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Hardware Used in </a:t>
            </a:r>
            <a:r>
              <a:rPr lang="en-CA" err="1"/>
              <a:t>TinyML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DC1DA-FA17-56CB-EBE2-8A7AED9E2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/>
              <a:t>Common Platforms</a:t>
            </a:r>
          </a:p>
          <a:p>
            <a:pPr lvl="1"/>
            <a:r>
              <a:rPr lang="en-CA"/>
              <a:t>ESP32-S3 </a:t>
            </a:r>
          </a:p>
          <a:p>
            <a:pPr lvl="1"/>
            <a:r>
              <a:rPr lang="en-CA"/>
              <a:t>STM32 </a:t>
            </a:r>
          </a:p>
          <a:p>
            <a:pPr lvl="1"/>
            <a:r>
              <a:rPr lang="en-CA"/>
              <a:t>Arduino Nano 33 BLE Sense </a:t>
            </a:r>
          </a:p>
          <a:p>
            <a:pPr lvl="1"/>
            <a:r>
              <a:rPr lang="en-CA"/>
              <a:t>Raspberry Pi Pico </a:t>
            </a:r>
          </a:p>
          <a:p>
            <a:r>
              <a:rPr lang="en-CA" b="1"/>
              <a:t>Why ESP32-S3?</a:t>
            </a:r>
          </a:p>
          <a:p>
            <a:r>
              <a:rPr lang="en-CA"/>
              <a:t>Our capstone already uses:</a:t>
            </a:r>
          </a:p>
          <a:p>
            <a:pPr lvl="1"/>
            <a:r>
              <a:rPr lang="en-CA"/>
              <a:t>ESP32-S3 </a:t>
            </a:r>
          </a:p>
          <a:p>
            <a:pPr lvl="1"/>
            <a:r>
              <a:rPr lang="en-CA"/>
              <a:t>MEMS microphone </a:t>
            </a:r>
          </a:p>
          <a:p>
            <a:pPr lvl="1"/>
            <a:r>
              <a:rPr lang="en-CA"/>
              <a:t>Wi-Fi communication </a:t>
            </a:r>
          </a:p>
          <a:p>
            <a:pPr lvl="1"/>
            <a:r>
              <a:rPr lang="en-CA"/>
              <a:t>This makes it an ideal </a:t>
            </a:r>
            <a:r>
              <a:rPr lang="en-CA" err="1"/>
              <a:t>TinyML</a:t>
            </a:r>
            <a:r>
              <a:rPr lang="en-CA"/>
              <a:t> platform.</a:t>
            </a:r>
          </a:p>
          <a:p>
            <a:endParaRPr lang="en-CA"/>
          </a:p>
        </p:txBody>
      </p:sp>
      <p:pic>
        <p:nvPicPr>
          <p:cNvPr id="4" name="Picture 3" descr="Adafruit Metro ESP32-S3 with 16 MB Flash 8 MB PSRAM : Adafruit Industries,  Unique &amp; fun DIY electronics and kits">
            <a:extLst>
              <a:ext uri="{FF2B5EF4-FFF2-40B4-BE49-F238E27FC236}">
                <a16:creationId xmlns:a16="http://schemas.microsoft.com/office/drawing/2014/main" id="{47E937AF-7F63-4673-886F-FB82113D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48" y="1862787"/>
            <a:ext cx="3140894" cy="2357289"/>
          </a:xfrm>
          <a:prstGeom prst="rect">
            <a:avLst/>
          </a:prstGeom>
        </p:spPr>
      </p:pic>
      <p:pic>
        <p:nvPicPr>
          <p:cNvPr id="5" name="Picture 4" descr="ABX00083">
            <a:extLst>
              <a:ext uri="{FF2B5EF4-FFF2-40B4-BE49-F238E27FC236}">
                <a16:creationId xmlns:a16="http://schemas.microsoft.com/office/drawing/2014/main" id="{4DF2A7BD-BCBE-7445-4193-99698F306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602" y="4027932"/>
            <a:ext cx="2072439" cy="2072439"/>
          </a:xfrm>
          <a:prstGeom prst="rect">
            <a:avLst/>
          </a:prstGeom>
        </p:spPr>
      </p:pic>
      <p:pic>
        <p:nvPicPr>
          <p:cNvPr id="6" name="Picture 5" descr="RASPBERRY-PI RPI4-MODBP-2GB">
            <a:extLst>
              <a:ext uri="{FF2B5EF4-FFF2-40B4-BE49-F238E27FC236}">
                <a16:creationId xmlns:a16="http://schemas.microsoft.com/office/drawing/2014/main" id="{8870B17D-572C-3D3A-59CD-EA28AA498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842" y="1430173"/>
            <a:ext cx="3446894" cy="265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8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76F6-A7DF-2D44-30C5-FEA1082B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err="1"/>
              <a:t>TinyML</a:t>
            </a:r>
            <a:r>
              <a:rPr lang="en-CA"/>
              <a:t> Development Tools</a:t>
            </a:r>
            <a:br>
              <a:rPr lang="en-CA"/>
            </a:b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40D12-921C-7699-A95C-78A42CAA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1800" b="1"/>
              <a:t>TensorFlow Lite for Microcontrollers</a:t>
            </a:r>
          </a:p>
          <a:p>
            <a:pPr lvl="1"/>
            <a:r>
              <a:rPr lang="en-CA" sz="1800"/>
              <a:t>Lightweight ML framework </a:t>
            </a:r>
          </a:p>
          <a:p>
            <a:pPr lvl="1"/>
            <a:r>
              <a:rPr lang="en-CA" sz="1800"/>
              <a:t>Runs neural networks on microcontrollers </a:t>
            </a:r>
          </a:p>
          <a:p>
            <a:r>
              <a:rPr lang="en-CA" sz="1800" b="1"/>
              <a:t>Edge Impulse</a:t>
            </a:r>
          </a:p>
          <a:p>
            <a:pPr lvl="1"/>
            <a:r>
              <a:rPr lang="en-CA" sz="1800"/>
              <a:t>Data collection </a:t>
            </a:r>
          </a:p>
          <a:p>
            <a:pPr lvl="1"/>
            <a:r>
              <a:rPr lang="en-CA" sz="1800"/>
              <a:t>Model training </a:t>
            </a:r>
          </a:p>
          <a:p>
            <a:pPr lvl="1"/>
            <a:r>
              <a:rPr lang="en-CA" sz="1800"/>
              <a:t>Model deployment </a:t>
            </a:r>
          </a:p>
          <a:p>
            <a:r>
              <a:rPr lang="en-CA" sz="1800" b="1"/>
              <a:t>Advantages</a:t>
            </a:r>
          </a:p>
          <a:p>
            <a:pPr lvl="1"/>
            <a:r>
              <a:rPr lang="en-CA" sz="1800"/>
              <a:t>Easy deployment </a:t>
            </a:r>
          </a:p>
          <a:p>
            <a:pPr lvl="1"/>
            <a:r>
              <a:rPr lang="en-CA" sz="1800"/>
              <a:t>Optimized for embedded systems </a:t>
            </a:r>
          </a:p>
          <a:p>
            <a:pPr lvl="1"/>
            <a:r>
              <a:rPr lang="en-CA" sz="1800"/>
              <a:t>Supports ESP32 devices</a:t>
            </a:r>
          </a:p>
          <a:p>
            <a:endParaRPr lang="en-CA"/>
          </a:p>
        </p:txBody>
      </p:sp>
      <p:pic>
        <p:nvPicPr>
          <p:cNvPr id="4" name="Picture 3" descr="TensorFlow Lite with Pete Warden - Software Engineering Daily">
            <a:extLst>
              <a:ext uri="{FF2B5EF4-FFF2-40B4-BE49-F238E27FC236}">
                <a16:creationId xmlns:a16="http://schemas.microsoft.com/office/drawing/2014/main" id="{416EBDC3-FDC6-9D9C-5C59-EDE0F6060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31" y="1426306"/>
            <a:ext cx="3480134" cy="1957575"/>
          </a:xfrm>
          <a:prstGeom prst="rect">
            <a:avLst/>
          </a:prstGeom>
        </p:spPr>
      </p:pic>
      <p:pic>
        <p:nvPicPr>
          <p:cNvPr id="5" name="Picture 4" descr="Introduction to edge AI - Edge Impulse Documentation">
            <a:extLst>
              <a:ext uri="{FF2B5EF4-FFF2-40B4-BE49-F238E27FC236}">
                <a16:creationId xmlns:a16="http://schemas.microsoft.com/office/drawing/2014/main" id="{33FFBAE5-B0EC-D22E-C039-BB3DC393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04" y="3383881"/>
            <a:ext cx="4840705" cy="272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4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C783-FBF7-6D0F-AD4A-605035EF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Integration to SDACS – Current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0DA4F-853D-DFF4-CF48-1365202EE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CA" sz="2000" b="1"/>
              <a:t>Current Functions</a:t>
            </a:r>
          </a:p>
          <a:p>
            <a:pPr lvl="1"/>
            <a:r>
              <a:rPr lang="en-CA" sz="2000"/>
              <a:t>Sound Pressure Level (SPL) </a:t>
            </a:r>
          </a:p>
          <a:p>
            <a:pPr lvl="1"/>
            <a:r>
              <a:rPr lang="en-CA" sz="2000"/>
              <a:t>FFT Analysis </a:t>
            </a:r>
          </a:p>
          <a:p>
            <a:pPr lvl="1"/>
            <a:r>
              <a:rPr lang="en-CA" sz="2000"/>
              <a:t>Frequency Response </a:t>
            </a:r>
          </a:p>
          <a:p>
            <a:pPr lvl="1"/>
            <a:r>
              <a:rPr lang="en-CA" sz="2000"/>
              <a:t>Room Acoustic Measurements </a:t>
            </a:r>
          </a:p>
          <a:p>
            <a:pPr lvl="1"/>
            <a:r>
              <a:rPr lang="en-CA" sz="2000"/>
              <a:t>Wireless Data Collection </a:t>
            </a:r>
          </a:p>
          <a:p>
            <a:r>
              <a:rPr lang="en-CA" sz="2000" b="1"/>
              <a:t>Current Workflow</a:t>
            </a:r>
          </a:p>
          <a:p>
            <a:pPr lvl="1"/>
            <a:r>
              <a:rPr lang="en-CA" sz="2000">
                <a:ea typeface="+mn-lt"/>
                <a:cs typeface="+mn-lt"/>
              </a:rPr>
              <a:t>Microphone → ESP32-S3 DSP → </a:t>
            </a:r>
            <a:r>
              <a:rPr lang="en-CA" sz="2000" err="1">
                <a:ea typeface="+mn-lt"/>
                <a:cs typeface="+mn-lt"/>
              </a:rPr>
              <a:t>TinyML</a:t>
            </a:r>
            <a:r>
              <a:rPr lang="en-CA" sz="2000">
                <a:ea typeface="+mn-lt"/>
                <a:cs typeface="+mn-lt"/>
              </a:rPr>
              <a:t> inference → MQTT/Node-RED → Flutter AI result display</a:t>
            </a:r>
          </a:p>
          <a:p>
            <a:r>
              <a:rPr lang="en-CA" sz="2000"/>
              <a:t>The system measures sound but does not currently interpret it.</a:t>
            </a:r>
          </a:p>
          <a:p>
            <a:endParaRPr lang="en-CA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44CA5319-A425-6950-E1C2-C3817E95A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66" r="9766"/>
          <a:stretch>
            <a:fillRect/>
          </a:stretch>
        </p:blipFill>
        <p:spPr>
          <a:xfrm>
            <a:off x="6877704" y="1805427"/>
            <a:ext cx="2232983" cy="27752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0569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EA4D-B7EE-C823-D422-077FB0CA2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Integration to SDACS – New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D04B-B290-4406-E351-5653521B6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000"/>
              <a:t>Microphone → DSP Processing → </a:t>
            </a:r>
            <a:r>
              <a:rPr lang="en-CA" sz="2000" err="1"/>
              <a:t>TinyML</a:t>
            </a:r>
            <a:r>
              <a:rPr lang="en-CA" sz="2000"/>
              <a:t> Model → AI Prediction → App Display</a:t>
            </a:r>
          </a:p>
          <a:p>
            <a:r>
              <a:rPr lang="en-CA" sz="2000" b="1"/>
              <a:t>AI Capabilities:</a:t>
            </a:r>
          </a:p>
          <a:p>
            <a:r>
              <a:rPr lang="en-CA" sz="2000"/>
              <a:t>The system could automatically:</a:t>
            </a:r>
          </a:p>
          <a:p>
            <a:pPr lvl="1"/>
            <a:r>
              <a:rPr lang="en-CA" sz="2000"/>
              <a:t>Classify room types </a:t>
            </a:r>
          </a:p>
          <a:p>
            <a:pPr lvl="1"/>
            <a:r>
              <a:rPr lang="en-CA" sz="2000"/>
              <a:t>Detect echo issues </a:t>
            </a:r>
          </a:p>
          <a:p>
            <a:pPr lvl="1"/>
            <a:r>
              <a:rPr lang="en-CA" sz="2000"/>
              <a:t>Detect excessive reverberation </a:t>
            </a:r>
          </a:p>
          <a:p>
            <a:pPr lvl="1"/>
            <a:r>
              <a:rPr lang="en-CA" sz="2000"/>
              <a:t>Evaluate speech intelligibility </a:t>
            </a:r>
          </a:p>
          <a:p>
            <a:pPr lvl="1"/>
            <a:r>
              <a:rPr lang="en-CA" sz="2000"/>
              <a:t>Recommend acoustic treatments </a:t>
            </a:r>
          </a:p>
          <a:p>
            <a:r>
              <a:rPr lang="en-CA" sz="2000"/>
              <a:t>The device becomes an intelligent acoustic assistant.</a:t>
            </a:r>
          </a:p>
          <a:p>
            <a:endParaRPr lang="en-CA"/>
          </a:p>
        </p:txBody>
      </p:sp>
      <p:pic>
        <p:nvPicPr>
          <p:cNvPr id="4" name="Picture 3" descr="Reminder on sound waves physics | Inside the Saxophone">
            <a:extLst>
              <a:ext uri="{FF2B5EF4-FFF2-40B4-BE49-F238E27FC236}">
                <a16:creationId xmlns:a16="http://schemas.microsoft.com/office/drawing/2014/main" id="{E1677FA8-12AC-5024-34AC-D25FAC59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142" y="2845288"/>
            <a:ext cx="3549319" cy="23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2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9DED-D86B-0DFE-C66D-9979F139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How it Benefits Our Capstone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7EFC-8473-18D4-2C8F-939D3C96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b="1"/>
              <a:t>Technical Benefits</a:t>
            </a:r>
          </a:p>
          <a:p>
            <a:pPr lvl="1"/>
            <a:r>
              <a:rPr lang="en-CA"/>
              <a:t>Real-time acoustic intelligence </a:t>
            </a:r>
          </a:p>
          <a:p>
            <a:pPr lvl="1"/>
            <a:r>
              <a:rPr lang="en-CA"/>
              <a:t>Local processing </a:t>
            </a:r>
          </a:p>
          <a:p>
            <a:pPr lvl="1"/>
            <a:r>
              <a:rPr lang="en-CA"/>
              <a:t>Reduced server workload </a:t>
            </a:r>
          </a:p>
          <a:p>
            <a:pPr lvl="1"/>
            <a:r>
              <a:rPr lang="en-CA"/>
              <a:t>Faster analysis </a:t>
            </a:r>
          </a:p>
          <a:p>
            <a:r>
              <a:rPr lang="en-CA" b="1"/>
              <a:t>Educational Benefits: Combines</a:t>
            </a:r>
            <a:endParaRPr lang="en-CA"/>
          </a:p>
          <a:p>
            <a:pPr lvl="1"/>
            <a:r>
              <a:rPr lang="en-CA"/>
              <a:t>Artificial Intelligence </a:t>
            </a:r>
          </a:p>
          <a:p>
            <a:pPr lvl="1"/>
            <a:r>
              <a:rPr lang="en-CA"/>
              <a:t>Machine Learning </a:t>
            </a:r>
          </a:p>
          <a:p>
            <a:pPr lvl="1"/>
            <a:r>
              <a:rPr lang="en-CA"/>
              <a:t>Embedded Systems </a:t>
            </a:r>
          </a:p>
          <a:p>
            <a:pPr lvl="1"/>
            <a:r>
              <a:rPr lang="en-CA"/>
              <a:t>Signal Processing </a:t>
            </a:r>
          </a:p>
          <a:p>
            <a:pPr lvl="1"/>
            <a:r>
              <a:rPr lang="en-CA"/>
              <a:t>IoT </a:t>
            </a:r>
          </a:p>
          <a:p>
            <a:pPr lvl="1"/>
            <a:r>
              <a:rPr lang="en-CA"/>
              <a:t>Acoustic Engineering </a:t>
            </a:r>
          </a:p>
          <a:p>
            <a:r>
              <a:rPr lang="en-CA" b="1"/>
              <a:t>Industry Relevance</a:t>
            </a:r>
          </a:p>
          <a:p>
            <a:r>
              <a:rPr lang="en-CA"/>
              <a:t>Growing use of Edge AI and </a:t>
            </a:r>
            <a:r>
              <a:rPr lang="en-CA" err="1"/>
              <a:t>TinyML</a:t>
            </a:r>
            <a:r>
              <a:rPr lang="en-CA"/>
              <a:t> in modern engineering systems.</a:t>
            </a:r>
          </a:p>
          <a:p>
            <a:endParaRPr lang="en-CA"/>
          </a:p>
        </p:txBody>
      </p:sp>
      <p:pic>
        <p:nvPicPr>
          <p:cNvPr id="4" name="Picture 3" descr="Building Acoustics and Noise Control">
            <a:extLst>
              <a:ext uri="{FF2B5EF4-FFF2-40B4-BE49-F238E27FC236}">
                <a16:creationId xmlns:a16="http://schemas.microsoft.com/office/drawing/2014/main" id="{2B808232-7BE4-CBF0-67F4-1EC2A897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474" y="4273810"/>
            <a:ext cx="3451726" cy="1941596"/>
          </a:xfrm>
          <a:prstGeom prst="rect">
            <a:avLst/>
          </a:prstGeom>
        </p:spPr>
      </p:pic>
      <p:pic>
        <p:nvPicPr>
          <p:cNvPr id="5" name="Picture 4" descr="Acoustic Analysis">
            <a:extLst>
              <a:ext uri="{FF2B5EF4-FFF2-40B4-BE49-F238E27FC236}">
                <a16:creationId xmlns:a16="http://schemas.microsoft.com/office/drawing/2014/main" id="{C78D7946-430D-EC4C-1FAC-ADB9AC953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654" y="1840458"/>
            <a:ext cx="3624377" cy="229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5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0696" y="411480"/>
            <a:ext cx="103001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1F1F"/>
                </a:solidFill>
              </a:defRPr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TinyML</a:t>
            </a:r>
            <a:r>
              <a:t> </a:t>
            </a:r>
            <a:r>
              <a: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Limitations &amp; Better AI/ML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120640" cy="25545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200" b="1">
                <a:solidFill>
                  <a:srgbClr val="1F1F1F"/>
                </a:solidFill>
              </a:defRPr>
            </a:pPr>
            <a:r>
              <a:rPr sz="2400" b="1" err="1">
                <a:solidFill>
                  <a:schemeClr val="accent2"/>
                </a:solidFill>
                <a:latin typeface="+mj-lt"/>
              </a:rPr>
              <a:t>TinyML</a:t>
            </a:r>
            <a:r>
              <a:rPr sz="2400" b="1">
                <a:solidFill>
                  <a:schemeClr val="accent2"/>
                </a:solidFill>
                <a:latin typeface="+mj-lt"/>
              </a:rPr>
              <a:t> limitations for SDACS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F1F1F"/>
                </a:solidFill>
              </a:defRPr>
            </a:pPr>
            <a:r>
              <a:t>Needs a labelled acoustic dataset before predictions are reliable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F1F1F"/>
                </a:solidFill>
              </a:defRPr>
            </a:pPr>
            <a:r>
              <a:t>ESP32-S3 RAM, flash, and CPU limit model size and inference speed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F1F1F"/>
                </a:solidFill>
              </a:defRPr>
            </a:pPr>
            <a:r>
              <a:t>Raw-audio ML adds DSP, memory, and battery load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F1F1F"/>
                </a:solidFill>
              </a:defRPr>
            </a:pPr>
            <a:r>
              <a:t>Harder to debug than the current SPL / FFT telemetry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1234440"/>
            <a:ext cx="5120640" cy="28315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rPr>
                <a:latin typeface="+mj-lt"/>
              </a:rPr>
              <a:t>More practical AI/ML path</a:t>
            </a:r>
          </a:p>
          <a:p>
            <a:pPr>
              <a:defRPr sz="1700" b="1">
                <a:solidFill>
                  <a:srgbClr val="1F1F1F"/>
                </a:solidFill>
              </a:defRPr>
            </a:pPr>
            <a:r>
              <a:rPr>
                <a:latin typeface="+mj-lt"/>
              </a:rPr>
              <a:t>1. Rule-based acoustic intelligence now</a:t>
            </a:r>
          </a:p>
          <a:p>
            <a:pPr lvl="1">
              <a:defRPr sz="1500">
                <a:solidFill>
                  <a:srgbClr val="5F5F5F"/>
                </a:solidFill>
              </a:defRPr>
            </a:pPr>
            <a:r>
              <a:t>Use SPL, FFT bands, noise floor, and thresholds to flag noise, echo, and low-frequency buildup.</a:t>
            </a:r>
          </a:p>
          <a:p>
            <a:pPr>
              <a:defRPr sz="1700" b="1">
                <a:solidFill>
                  <a:srgbClr val="1F1F1F"/>
                </a:solidFill>
              </a:defRPr>
            </a:pPr>
            <a:r>
              <a:rPr>
                <a:latin typeface="+mj-lt"/>
              </a:rPr>
              <a:t>2. RPi5 / Node-RED or Flutter-side ML next</a:t>
            </a:r>
          </a:p>
          <a:p>
            <a:pPr lvl="1">
              <a:defRPr sz="1500">
                <a:solidFill>
                  <a:srgbClr val="5F5F5F"/>
                </a:solidFill>
              </a:defRPr>
            </a:pPr>
            <a:r>
              <a:t>Keep ESP32 nodes focused on sensing; run classifiers and recommendations on the server/app.</a:t>
            </a:r>
          </a:p>
          <a:p>
            <a:pPr>
              <a:defRPr sz="1700" b="1">
                <a:solidFill>
                  <a:srgbClr val="1F1F1F"/>
                </a:solidFill>
              </a:defRPr>
            </a:pPr>
            <a:r>
              <a:rPr>
                <a:latin typeface="+mj-lt"/>
              </a:rPr>
              <a:t>3. </a:t>
            </a:r>
            <a:r>
              <a:rPr err="1">
                <a:latin typeface="+mj-lt"/>
              </a:rPr>
              <a:t>TinyML</a:t>
            </a:r>
            <a:r>
              <a:rPr>
                <a:latin typeface="+mj-lt"/>
              </a:rPr>
              <a:t> later</a:t>
            </a:r>
          </a:p>
          <a:p>
            <a:pPr lvl="1">
              <a:defRPr sz="1500">
                <a:solidFill>
                  <a:srgbClr val="5F5F5F"/>
                </a:solidFill>
              </a:defRPr>
            </a:pPr>
            <a:r>
              <a:t>Deploy a small feature-based model only after the dataset and benchmarks are proven.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0"/>
            <a:ext cx="777240" cy="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78040" y="0"/>
            <a:ext cx="777239" cy="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4617720"/>
            <a:ext cx="2743200" cy="7772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rPr>
                <a:latin typeface="+mj-lt"/>
              </a:rPr>
              <a:t>Current SDACS</a:t>
            </a:r>
            <a:br>
              <a:rPr>
                <a:latin typeface="+mj-lt"/>
              </a:rPr>
            </a:br>
            <a:r>
              <a:rPr>
                <a:latin typeface="+mj-lt"/>
              </a:rPr>
              <a:t>SPL + FFT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617720"/>
            <a:ext cx="2743200" cy="7772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rPr>
                <a:latin typeface="+mj-lt"/>
              </a:rPr>
              <a:t>Server/App AI</a:t>
            </a:r>
            <a:br>
              <a:rPr>
                <a:latin typeface="+mj-lt"/>
              </a:rPr>
            </a:br>
            <a:r>
              <a:rPr>
                <a:latin typeface="+mj-lt"/>
              </a:rPr>
              <a:t>Rules or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617720"/>
            <a:ext cx="2743200" cy="77724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rPr>
                <a:latin typeface="+mj-lt"/>
              </a:rPr>
              <a:t>Future TinyML</a:t>
            </a:r>
            <a:br>
              <a:rPr>
                <a:latin typeface="+mj-lt"/>
              </a:rPr>
            </a:br>
            <a:r>
              <a:rPr>
                <a:latin typeface="+mj-lt"/>
              </a:rPr>
              <a:t>On-node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238" y="5559552"/>
            <a:ext cx="1125904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rPr sz="2400">
                <a:latin typeface="+mj-lt"/>
              </a:rPr>
              <a:t>Recommendation: present </a:t>
            </a:r>
            <a:r>
              <a:rPr sz="2400" err="1">
                <a:latin typeface="+mj-lt"/>
              </a:rPr>
              <a:t>TinyML</a:t>
            </a:r>
            <a:r>
              <a:rPr sz="2400">
                <a:latin typeface="+mj-lt"/>
              </a:rPr>
              <a:t> as future work; implement server/app-side </a:t>
            </a:r>
            <a:endParaRPr lang="en-US" sz="2400">
              <a:latin typeface="+mj-lt"/>
            </a:endParaRPr>
          </a:p>
          <a:p>
            <a:pPr algn="ctr">
              <a:defRPr sz="1600" b="1">
                <a:solidFill>
                  <a:srgbClr val="1F1F1F"/>
                </a:solidFill>
              </a:defRPr>
            </a:pPr>
            <a:r>
              <a:rPr sz="2400">
                <a:latin typeface="+mj-lt"/>
              </a:rPr>
              <a:t>intelligence first for a stronger, lower-risk SDACS demo.</a:t>
            </a:r>
          </a:p>
        </p:txBody>
      </p:sp>
    </p:spTree>
    <p:extLst>
      <p:ext uri="{BB962C8B-B14F-4D97-AF65-F5344CB8AC3E}">
        <p14:creationId xmlns:p14="http://schemas.microsoft.com/office/powerpoint/2010/main" val="2494732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EFB9-9A3E-B895-68DF-CA02D407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66E7-03B2-37FE-014E-96A0BF9F5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428874" cy="3849624"/>
          </a:xfrm>
        </p:spPr>
        <p:txBody>
          <a:bodyPr>
            <a:normAutofit lnSpcReduction="10000"/>
          </a:bodyPr>
          <a:lstStyle/>
          <a:p>
            <a:r>
              <a:rPr lang="en-CA" sz="1800" b="1"/>
              <a:t>Key Takeaways</a:t>
            </a:r>
          </a:p>
          <a:p>
            <a:pPr lvl="1"/>
            <a:r>
              <a:rPr lang="en-CA" sz="1800" err="1"/>
              <a:t>TinyML</a:t>
            </a:r>
            <a:r>
              <a:rPr lang="en-CA" sz="1800"/>
              <a:t> enables AI on low-power embedded devices. </a:t>
            </a:r>
          </a:p>
          <a:p>
            <a:pPr lvl="1"/>
            <a:r>
              <a:rPr lang="en-CA" sz="1800"/>
              <a:t>ESP32-S3 hardware supports </a:t>
            </a:r>
            <a:r>
              <a:rPr lang="en-CA" sz="1800" err="1"/>
              <a:t>TinyML</a:t>
            </a:r>
            <a:r>
              <a:rPr lang="en-CA" sz="1800"/>
              <a:t> applications. </a:t>
            </a:r>
          </a:p>
          <a:p>
            <a:pPr lvl="1"/>
            <a:r>
              <a:rPr lang="en-CA" sz="1800"/>
              <a:t>SDACS could use </a:t>
            </a:r>
            <a:r>
              <a:rPr lang="en-CA" sz="1800" err="1"/>
              <a:t>TinyML</a:t>
            </a:r>
            <a:r>
              <a:rPr lang="en-CA" sz="1800"/>
              <a:t> to automatically analyze room acoustics. </a:t>
            </a:r>
          </a:p>
          <a:p>
            <a:pPr lvl="1"/>
            <a:r>
              <a:rPr lang="en-CA" sz="1800"/>
              <a:t>AI would transform the project from a measurement system into an intelligent acoustic analysis platform. </a:t>
            </a:r>
          </a:p>
          <a:p>
            <a:r>
              <a:rPr lang="en-CA" sz="1800" b="1"/>
              <a:t>Future Work</a:t>
            </a:r>
          </a:p>
          <a:p>
            <a:pPr lvl="1"/>
            <a:r>
              <a:rPr lang="en-CA" sz="1800"/>
              <a:t>Collect acoustic datasets </a:t>
            </a:r>
          </a:p>
          <a:p>
            <a:pPr lvl="1"/>
            <a:r>
              <a:rPr lang="en-CA" sz="1800"/>
              <a:t>Train room-classification models </a:t>
            </a:r>
          </a:p>
          <a:p>
            <a:pPr lvl="1"/>
            <a:r>
              <a:rPr lang="en-CA" sz="1800"/>
              <a:t>Deploy </a:t>
            </a:r>
            <a:r>
              <a:rPr lang="en-CA" sz="1800" err="1"/>
              <a:t>TinyML</a:t>
            </a:r>
            <a:r>
              <a:rPr lang="en-CA" sz="1800"/>
              <a:t> models on ESP32-S3 </a:t>
            </a:r>
          </a:p>
          <a:p>
            <a:pPr lvl="1"/>
            <a:r>
              <a:rPr lang="en-CA" sz="1800"/>
              <a:t>Integrate AI results into Flutter application</a:t>
            </a:r>
          </a:p>
          <a:p>
            <a:endParaRPr lang="en-CA"/>
          </a:p>
        </p:txBody>
      </p:sp>
      <p:pic>
        <p:nvPicPr>
          <p:cNvPr id="4" name="Picture 3" descr="Signal Processing and Sound Quality | The Hearing Review">
            <a:extLst>
              <a:ext uri="{FF2B5EF4-FFF2-40B4-BE49-F238E27FC236}">
                <a16:creationId xmlns:a16="http://schemas.microsoft.com/office/drawing/2014/main" id="{2C686FD2-1B9E-F85F-E093-E6AE77C3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360" y="4027932"/>
            <a:ext cx="3873416" cy="2065822"/>
          </a:xfrm>
          <a:prstGeom prst="rect">
            <a:avLst/>
          </a:prstGeom>
        </p:spPr>
      </p:pic>
      <p:pic>
        <p:nvPicPr>
          <p:cNvPr id="5" name="Picture 4" descr="Let Acoustic Panels Create the Perfect Listening Experience at Home - Blog">
            <a:extLst>
              <a:ext uri="{FF2B5EF4-FFF2-40B4-BE49-F238E27FC236}">
                <a16:creationId xmlns:a16="http://schemas.microsoft.com/office/drawing/2014/main" id="{F24B1AFC-655F-C9F6-7CFD-BEB84E6DE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0" y="1185110"/>
            <a:ext cx="3693695" cy="277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0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9CD0-FE4F-5A44-976E-95DBAD23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A0186-3C58-D60A-5E21-E34EF4D0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[1] Edge Impulse, "Edge Impulse: Edge AI Development Platform," Available: </a:t>
            </a:r>
            <a:r>
              <a:rPr lang="en-CA">
                <a:hlinkClick r:id="rId2"/>
              </a:rPr>
              <a:t>https://www.edgeimpulse.com/</a:t>
            </a:r>
            <a:endParaRPr lang="en-CA"/>
          </a:p>
          <a:p>
            <a:r>
              <a:rPr lang="en-CA"/>
              <a:t>[2] Google AI for Developers, "</a:t>
            </a:r>
            <a:r>
              <a:rPr lang="en-CA" err="1"/>
              <a:t>LiteRT</a:t>
            </a:r>
            <a:r>
              <a:rPr lang="en-CA"/>
              <a:t> for Microcontrollers," Available: </a:t>
            </a:r>
            <a:r>
              <a:rPr lang="en-CA">
                <a:hlinkClick r:id="rId3"/>
              </a:rPr>
              <a:t>https://ai.google.dev/edge/litert/microcontrollers/overview</a:t>
            </a:r>
            <a:endParaRPr lang="en-CA"/>
          </a:p>
          <a:p>
            <a:r>
              <a:rPr lang="en-CA"/>
              <a:t>[3] </a:t>
            </a:r>
            <a:r>
              <a:rPr lang="en-CA" err="1"/>
              <a:t>TinyML</a:t>
            </a:r>
            <a:r>
              <a:rPr lang="en-CA"/>
              <a:t> Foundation, "</a:t>
            </a:r>
            <a:r>
              <a:rPr lang="en-CA" err="1"/>
              <a:t>TinyML</a:t>
            </a:r>
            <a:r>
              <a:rPr lang="en-CA"/>
              <a:t> Foundation," Available: </a:t>
            </a:r>
            <a:r>
              <a:rPr lang="en-CA">
                <a:hlinkClick r:id="rId4"/>
              </a:rPr>
              <a:t>https://tinyml.org/</a:t>
            </a:r>
            <a:endParaRPr lang="en-CA"/>
          </a:p>
          <a:p>
            <a:r>
              <a:rPr lang="en-CA"/>
              <a:t>[4] Espressif Systems, "ESP32-S3 Series," Available: </a:t>
            </a:r>
            <a:r>
              <a:rPr lang="en-CA">
                <a:hlinkClick r:id="rId5"/>
              </a:rPr>
              <a:t>https://www.espressif.com/en/products/socs/esp32-s3</a:t>
            </a:r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0293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CB137F61DA724CA0AF4D2DB9E70374" ma:contentTypeVersion="16" ma:contentTypeDescription="Create a new document." ma:contentTypeScope="" ma:versionID="e7b10c8114fc75d94d2677ac6cd353f2">
  <xsd:schema xmlns:xsd="http://www.w3.org/2001/XMLSchema" xmlns:xs="http://www.w3.org/2001/XMLSchema" xmlns:p="http://schemas.microsoft.com/office/2006/metadata/properties" xmlns:ns3="96f680b0-a012-449b-8684-5458dc507988" xmlns:ns4="ea9f4dd1-68e3-48ca-8989-2bd4ba7a6336" targetNamespace="http://schemas.microsoft.com/office/2006/metadata/properties" ma:root="true" ma:fieldsID="b9e9568c520ec426d99f13dbc9692870" ns3:_="" ns4:_="">
    <xsd:import namespace="96f680b0-a012-449b-8684-5458dc507988"/>
    <xsd:import namespace="ea9f4dd1-68e3-48ca-8989-2bd4ba7a63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f680b0-a012-449b-8684-5458dc5079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f4dd1-68e3-48ca-8989-2bd4ba7a633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f680b0-a012-449b-8684-5458dc507988" xsi:nil="true"/>
  </documentManagement>
</p:properties>
</file>

<file path=customXml/itemProps1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8E827C-5CDB-4707-97A8-A7B784BCB315}">
  <ds:schemaRefs>
    <ds:schemaRef ds:uri="96f680b0-a012-449b-8684-5458dc507988"/>
    <ds:schemaRef ds:uri="ea9f4dd1-68e3-48ca-8989-2bd4ba7a63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2F3B215-496E-4790-A364-7C1C46DEC771}">
  <ds:schemaRefs>
    <ds:schemaRef ds:uri="96f680b0-a012-449b-8684-5458dc507988"/>
    <ds:schemaRef ds:uri="ea9f4dd1-68e3-48ca-8989-2bd4ba7a63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{709ADAA2-17F1-406F-9CC3-855D645709E9}TF029381d7-1900-4cf6-a601-bb0184aacdbaf0338e59_win32-4b933ff3c21f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SavonVTI</vt:lpstr>
      <vt:lpstr>TINYML For acoustic analysis</vt:lpstr>
      <vt:lpstr>What is TinyML?</vt:lpstr>
      <vt:lpstr>Real World Applications and Growth</vt:lpstr>
      <vt:lpstr>Why TinyML is Important </vt:lpstr>
      <vt:lpstr>TinyML Architecture</vt:lpstr>
      <vt:lpstr>Challenges of TinyML</vt:lpstr>
      <vt:lpstr>Hardware Used in TinyML</vt:lpstr>
      <vt:lpstr>TinyML Development Tools </vt:lpstr>
      <vt:lpstr>Integration to SDACS – Current Workflow</vt:lpstr>
      <vt:lpstr>Integration to SDACS – New Workflow</vt:lpstr>
      <vt:lpstr>How it Benefits Our Capstone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Toma</dc:creator>
  <cp:revision>1</cp:revision>
  <dcterms:created xsi:type="dcterms:W3CDTF">2026-06-17T04:09:04Z</dcterms:created>
  <dcterms:modified xsi:type="dcterms:W3CDTF">2026-06-17T18:19:45Z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0x01010099CB137F61DA724CA0AF4D2DB9E70374</vt:lpwstr>
  </property>
</Properties>
</file>